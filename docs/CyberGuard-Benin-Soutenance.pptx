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 autoAdjust="0"/>
    <p:restoredTop sz="94694" autoAdjust="0"/>
  </p:normalViewPr>
  <p:slideViewPr>
    <p:cSldViewPr snapToGrid="0" snapToObjects="1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CyberGuard Bénin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Plateforme intelligente d’analyse et d’évaluation de la sécurité des sites web</a:t>
            </a:r>
            <a:br/>
            <a:br/>
            <a:r>
              <a:t>Orace ATTINMAWASSONOU — Fructueux HOUNGBEME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Soutenance de stage — ENEAM / UAC — Année académique 2025-2026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I. Contexte du stage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Structure d’accueil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Direction Générale de la Recherche Scientifique et de l’Innovation (DGRSI)</a:t>
            </a:r>
          </a:p>
          <a:p>
            <a:pPr lvl="0"/>
            <a:r>
              <a:t>L’une des deux directions générales du </a:t>
            </a:r>
            <a:r>
              <a:rPr b="1"/>
              <a:t>MESRS</a:t>
            </a:r>
            <a:r>
              <a:t> (Ministère de l’Enseignement Supérieur et de la Recherche Scientifique), aux côtés de la DGES</a:t>
            </a:r>
          </a:p>
          <a:p>
            <a:pPr lvl="0"/>
            <a:r>
              <a:t>Organisation régie par le décret n°2023-150 du 12 avril 2023</a:t>
            </a:r>
          </a:p>
          <a:p>
            <a:pPr lvl="0"/>
            <a:r>
              <a:t>Mission : concevoir, coordonner et suivre la politique nationale de recherche scientifique et d’innovation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Organigramme MESRS / DGRSI</a:t>
            </a:r>
          </a:p>
        </p:txBody>
      </p:sp>
      <p:pic>
        <p:nvPicPr>
          <p:cNvPr id="3" name="Picture 1" descr="organigramme_MESRS_DGRSI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358900"/>
            <a:ext cx="8229600" cy="25654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Organigramme simplifié du MESRS et de la DGRSI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Déroulement du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 dirty="0"/>
              <a:t>Durée</a:t>
            </a:r>
            <a:r>
              <a:rPr dirty="0"/>
              <a:t> : 1 </a:t>
            </a:r>
            <a:r>
              <a:rPr dirty="0" err="1"/>
              <a:t>mois</a:t>
            </a:r>
            <a:r>
              <a:rPr dirty="0"/>
              <a:t>, du </a:t>
            </a:r>
            <a:r>
              <a:rPr lang="fr-FR" dirty="0"/>
              <a:t>29 juin</a:t>
            </a:r>
            <a:r>
              <a:rPr dirty="0"/>
              <a:t> au 31 </a:t>
            </a:r>
            <a:r>
              <a:rPr dirty="0" err="1"/>
              <a:t>juillet</a:t>
            </a:r>
            <a:r>
              <a:rPr dirty="0"/>
              <a:t> 2026</a:t>
            </a:r>
          </a:p>
          <a:p>
            <a:pPr lvl="0"/>
            <a:r>
              <a:rPr b="1" dirty="0"/>
              <a:t>Affectation</a:t>
            </a:r>
            <a:r>
              <a:rPr dirty="0"/>
              <a:t> : Cellule de la </a:t>
            </a:r>
            <a:r>
              <a:rPr dirty="0" err="1"/>
              <a:t>Statistique</a:t>
            </a:r>
            <a:r>
              <a:rPr dirty="0"/>
              <a:t>, de la Documentation et du </a:t>
            </a:r>
            <a:r>
              <a:rPr dirty="0" err="1"/>
              <a:t>Préarchivage</a:t>
            </a:r>
            <a:endParaRPr dirty="0"/>
          </a:p>
          <a:p>
            <a:pPr lvl="0"/>
            <a:r>
              <a:rPr dirty="0" err="1"/>
              <a:t>Élaboration</a:t>
            </a:r>
            <a:r>
              <a:rPr dirty="0"/>
              <a:t> des fiches </a:t>
            </a:r>
            <a:r>
              <a:rPr dirty="0" err="1"/>
              <a:t>statistiques</a:t>
            </a:r>
            <a:r>
              <a:rPr dirty="0"/>
              <a:t>, </a:t>
            </a:r>
            <a:r>
              <a:rPr dirty="0" err="1"/>
              <a:t>collecte</a:t>
            </a:r>
            <a:r>
              <a:rPr dirty="0"/>
              <a:t> et </a:t>
            </a:r>
            <a:r>
              <a:rPr dirty="0" err="1"/>
              <a:t>traitement</a:t>
            </a:r>
            <a:r>
              <a:rPr dirty="0"/>
              <a:t> des </a:t>
            </a:r>
            <a:r>
              <a:rPr dirty="0" err="1"/>
              <a:t>informations</a:t>
            </a:r>
            <a:r>
              <a:rPr dirty="0"/>
              <a:t> de la direction</a:t>
            </a:r>
          </a:p>
          <a:p>
            <a:pPr lvl="0"/>
            <a:r>
              <a:rPr dirty="0" err="1"/>
              <a:t>Projet</a:t>
            </a:r>
            <a:r>
              <a:rPr dirty="0"/>
              <a:t> de </a:t>
            </a:r>
            <a:r>
              <a:rPr dirty="0" err="1"/>
              <a:t>mémoire</a:t>
            </a:r>
            <a:r>
              <a:rPr dirty="0"/>
              <a:t> </a:t>
            </a:r>
            <a:r>
              <a:rPr dirty="0" err="1"/>
              <a:t>mené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parallèle</a:t>
            </a:r>
            <a:r>
              <a:rPr dirty="0"/>
              <a:t> des </a:t>
            </a:r>
            <a:r>
              <a:rPr dirty="0" err="1"/>
              <a:t>activités</a:t>
            </a:r>
            <a:r>
              <a:rPr dirty="0"/>
              <a:t> </a:t>
            </a:r>
            <a:r>
              <a:rPr dirty="0" err="1"/>
              <a:t>courantes</a:t>
            </a:r>
            <a:r>
              <a:rPr dirty="0"/>
              <a:t> de la cellule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II. Problématique &amp; 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constat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Au Bénin, de plus en plus d’entreprises, écoles et administrations se dotent d’un site web</a:t>
            </a:r>
          </a:p>
          <a:p>
            <a:pPr lvl="0"/>
            <a:r>
              <a:t>La sécurité informatique reste un domaine technique réservé à des spécialistes</a:t>
            </a:r>
          </a:p>
          <a:p>
            <a:pPr lvl="0"/>
            <a:r>
              <a:t>Un site mal sécurisé expose son propriétaire et ses visiteurs : usurpation, interception de données, fuite d’informations serveur</a:t>
            </a:r>
          </a:p>
          <a:p>
            <a:pPr lvl="0"/>
            <a:r>
              <a:t>Les outils existants (Mozilla Observatory, SSL Labs) sont en anglais, dispersés, pensés pour des experts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Ce n’est pas qu’un problème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270000" lvl="0" indent="0">
              <a:buNone/>
            </a:pPr>
            <a:r>
              <a:rPr sz="2000"/>
              <a:t>Le propriétaire d’un site ne sait généralement pas si son site est vulnérable, ni quoi vérifier, ni comment corriger.</a:t>
            </a:r>
          </a:p>
          <a:p>
            <a:pPr marL="0" lvl="0" indent="0">
              <a:buNone/>
            </a:pPr>
            <a:r>
              <a:rPr b="1"/>
              <a:t>C’est un problème d’accès à l’information.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La solution : CyberGuard Bénin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Une plateforme qui </a:t>
            </a:r>
            <a:r>
              <a:rPr b="1"/>
              <a:t>automatise le diagnostic</a:t>
            </a:r>
            <a:r>
              <a:t> de sécurité d’un site web</a:t>
            </a:r>
          </a:p>
          <a:p>
            <a:pPr lvl="0"/>
            <a:r>
              <a:t>L’utilisateur crée un compte, saisit une URL</a:t>
            </a:r>
          </a:p>
          <a:p>
            <a:pPr lvl="0"/>
            <a:r>
              <a:t>La plateforme lance des vérifications non intrusives</a:t>
            </a:r>
          </a:p>
          <a:p>
            <a:pPr lvl="0"/>
            <a:r>
              <a:t>Résultat traduit en </a:t>
            </a:r>
            <a:r>
              <a:rPr b="1"/>
              <a:t>score sur 100</a:t>
            </a:r>
            <a:r>
              <a:t> + </a:t>
            </a:r>
            <a:r>
              <a:rPr b="1"/>
              <a:t>niveau de risque</a:t>
            </a:r>
            <a:r>
              <a:t> (Bon / Moyen / Faible)</a:t>
            </a:r>
          </a:p>
          <a:p>
            <a:pPr lvl="0"/>
            <a:r>
              <a:t>Recommandations concrètes, en français, compréhensibles sans expertise technique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III. Conception &amp; Réalisation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Diagramme de cas d’utilisation</a:t>
            </a:r>
          </a:p>
        </p:txBody>
      </p:sp>
      <p:pic>
        <p:nvPicPr>
          <p:cNvPr id="3" name="Picture 1" descr="diagramme-cas-utilisation.jpe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38400" y="1193800"/>
            <a:ext cx="42799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Diagramme de cas d’utilisation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Diagramme de classes</a:t>
            </a:r>
          </a:p>
        </p:txBody>
      </p:sp>
      <p:pic>
        <p:nvPicPr>
          <p:cNvPr id="3" name="Picture 1" descr="diagramme-classes.jpe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184400" y="1193800"/>
            <a:ext cx="47752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Diagramme de classes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Diagramme d’objets</a:t>
            </a:r>
          </a:p>
        </p:txBody>
      </p:sp>
      <p:pic>
        <p:nvPicPr>
          <p:cNvPr id="3" name="Picture 1" descr="diagramme-objets.jpe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498600" y="1193800"/>
            <a:ext cx="6134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Diagramme d’objets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Séquence — Gérer les comptes utilisateurs</a:t>
            </a:r>
          </a:p>
        </p:txBody>
      </p:sp>
      <p:pic>
        <p:nvPicPr>
          <p:cNvPr id="3" name="Picture 1" descr="diagramme-sequence-gerer-comptes.jpe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324100" y="1193800"/>
            <a:ext cx="4508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Diagramme de séquence — Gérer les comptes utilisateurs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Séquence — Lancer une analyse</a:t>
            </a:r>
          </a:p>
        </p:txBody>
      </p:sp>
      <p:pic>
        <p:nvPicPr>
          <p:cNvPr id="3" name="Picture 1" descr="diagramme-sequence-lancer-analyse.jpe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14600" y="1193800"/>
            <a:ext cx="4127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Diagramme de séquence — Lancer une analyse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Séquence — Traiter l’analyse</a:t>
            </a:r>
          </a:p>
        </p:txBody>
      </p:sp>
      <p:pic>
        <p:nvPicPr>
          <p:cNvPr id="3" name="Picture 1" descr="diagramme-sequence-traiter-analyse.jpe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289300" y="1193800"/>
            <a:ext cx="2565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Diagramme de séquence — Traiter l’analyse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Architecture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Backend</a:t>
            </a:r>
            <a:r>
              <a:t> : Laravel 12 (API REST, authentification Sanctum)</a:t>
            </a:r>
          </a:p>
          <a:p>
            <a:pPr lvl="0"/>
            <a:r>
              <a:rPr b="1"/>
              <a:t>Frontend</a:t>
            </a:r>
            <a:r>
              <a:t> : React 19 + Vite</a:t>
            </a:r>
          </a:p>
          <a:p>
            <a:pPr lvl="0"/>
            <a:r>
              <a:rPr b="1"/>
              <a:t>Base de données</a:t>
            </a:r>
            <a:r>
              <a:t> : MySQL</a:t>
            </a:r>
          </a:p>
          <a:p>
            <a:pPr lvl="0"/>
            <a:r>
              <a:rPr b="1"/>
              <a:t>Traitement asynchrone</a:t>
            </a:r>
            <a:r>
              <a:t> : file d’attente Laravel — une analyse ne bloque pas l’utilisateur</a:t>
            </a:r>
          </a:p>
          <a:p>
            <a:pPr lvl="0"/>
            <a:r>
              <a:rPr b="1"/>
              <a:t>Génération de rapport</a:t>
            </a:r>
            <a:r>
              <a:t> : PDF via dompdf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Le moteur d’analyse — 7 contrôles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HTTPS</a:t>
            </a:r>
          </a:p>
          <a:p>
            <a:pPr lvl="0"/>
            <a:r>
              <a:t>Certificat SSL</a:t>
            </a:r>
          </a:p>
          <a:p>
            <a:pPr lvl="0"/>
            <a:r>
              <a:t>En-têtes de sécurité</a:t>
            </a:r>
          </a:p>
          <a:p>
            <a:pPr lvl="0"/>
            <a:r>
              <a:t>Cookies</a:t>
            </a:r>
          </a:p>
          <a:p>
            <a:pPr lvl="0"/>
            <a:r>
              <a:t>Vulnérabilités</a:t>
            </a:r>
          </a:p>
          <a:p>
            <a:pPr lvl="0"/>
            <a:r>
              <a:t>Fichiers exposés</a:t>
            </a:r>
          </a:p>
          <a:p>
            <a:pPr lvl="0"/>
            <a:r>
              <a:t>Sécurité email (SPF/DMARC)</a:t>
            </a:r>
          </a:p>
          <a:p>
            <a:pPr marL="0" lvl="0" indent="0">
              <a:buNone/>
            </a:pPr>
            <a:r>
              <a:t>→ Score sur 100, niveau de risque, recommandations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Sécurité du compte utilisateur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Inscription / connexion classique (email + mot de passe)</a:t>
            </a:r>
          </a:p>
          <a:p>
            <a:pPr lvl="0"/>
            <a:r>
              <a:t>Connexion via </a:t>
            </a:r>
            <a:r>
              <a:rPr b="1"/>
              <a:t>Google</a:t>
            </a:r>
            <a:r>
              <a:t> (OAuth)</a:t>
            </a:r>
          </a:p>
          <a:p>
            <a:pPr lvl="0"/>
            <a:r>
              <a:rPr b="1"/>
              <a:t>Double authentification (2FA)</a:t>
            </a:r>
            <a:r>
              <a:t> par code à usage unique (TOTP), pour les comptes sensibles</a:t>
            </a:r>
          </a:p>
          <a:p>
            <a:pPr lvl="0"/>
            <a:r>
              <a:t>Vérification de l’adresse email à l’inscription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Suivi et administration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Tableau de bord avec évolution du score dans le temps</a:t>
            </a:r>
          </a:p>
          <a:p>
            <a:pPr lvl="0"/>
            <a:r>
              <a:t>Historique des analyses, téléchargement du rapport PDF</a:t>
            </a:r>
          </a:p>
          <a:p>
            <a:pPr lvl="0"/>
            <a:r>
              <a:t>Back-office administrateur : gestion des comptes, modération des analyses, paramétrage du barème de scoring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Fonctionnalités récentes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Partage public</a:t>
            </a:r>
            <a:r>
              <a:t> d’un rapport (score et niveau de risque uniquement, sans détail exploitable)</a:t>
            </a:r>
          </a:p>
          <a:p>
            <a:pPr lvl="0"/>
            <a:r>
              <a:rPr b="1"/>
              <a:t>Surveillance continue</a:t>
            </a:r>
            <a:r>
              <a:t> : re-scan automatique périodique d’un site, sur activation volontaire</a:t>
            </a:r>
          </a:p>
          <a:p>
            <a:pPr lvl="0"/>
            <a:r>
              <a:t>Suite de tests automatisés (backend et frontend)</a:t>
            </a:r>
          </a:p>
          <a:p>
            <a:pPr lvl="0"/>
            <a:r>
              <a:t>Préparation au déploiement (conteneurisation Docker)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IV. Démonstration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Aperçu de la plateforme</a:t>
            </a:r>
          </a:p>
        </p:txBody>
      </p:sp>
      <p:pic>
        <p:nvPicPr>
          <p:cNvPr id="3" name="Picture 1" descr="page-accueil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87500" y="1193800"/>
            <a:ext cx="59690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Page d’accueil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Résultat d’une analyse</a:t>
            </a:r>
          </a:p>
        </p:txBody>
      </p:sp>
      <p:pic>
        <p:nvPicPr>
          <p:cNvPr id="3" name="Picture 1" descr="resultat-analyse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549400" y="1193800"/>
            <a:ext cx="6032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>
            <a:spLocks noGrp="1"/>
          </p:cNvSpPr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Résultat d’une analyse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>
              <a:buNone/>
            </a:pPr>
            <a:r>
              <a:t>V. Bilan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Difficultés rencontrées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Session Google OAuth</a:t>
            </a:r>
            <a:r>
              <a:t> : comportement du middleware Sanctum à adapter pour les retours depuis Google</a:t>
            </a:r>
          </a:p>
          <a:p>
            <a:pPr lvl="0"/>
            <a:r>
              <a:rPr b="1"/>
              <a:t>Sécurité du moteur d’analyse</a:t>
            </a:r>
            <a:r>
              <a:t> : double vérification pour empêcher le sondage du réseau interne (SSRF)</a:t>
            </a:r>
          </a:p>
          <a:p>
            <a:pPr lvl="0"/>
            <a:r>
              <a:rPr b="1"/>
              <a:t>Fiabilité du traitement asynchrone</a:t>
            </a:r>
            <a:r>
              <a:t> : vigilance nécessaire sur le worker de file d’attente</a:t>
            </a:r>
          </a:p>
          <a:p>
            <a:pPr lvl="0"/>
            <a:r>
              <a:rPr b="1"/>
              <a:t>Accessibilité des résultats</a:t>
            </a:r>
            <a:r>
              <a:t> : reformulation en langage courant, sans jargon technique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Résultats obtenus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Couverture de l’ensemble des cas d’utilisation identifiés en conception</a:t>
            </a:r>
          </a:p>
          <a:p>
            <a:pPr lvl="0"/>
            <a:r>
              <a:t>Authentification complète (mot de passe, Google, 2FA)</a:t>
            </a:r>
          </a:p>
          <a:p>
            <a:pPr lvl="0"/>
            <a:r>
              <a:t>Moteur d’analyse fonctionnel (7 contrôles, score, recommandations)</a:t>
            </a:r>
          </a:p>
          <a:p>
            <a:pPr lvl="0"/>
            <a:r>
              <a:t>Back-office d’administration complet</a:t>
            </a:r>
          </a:p>
          <a:p>
            <a:pPr lvl="0"/>
            <a:r>
              <a:t>Plateforme stable, testée, prête pour un déploiement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Déploiement en production et ouverture au public</a:t>
            </a:r>
          </a:p>
          <a:p>
            <a:pPr lvl="0"/>
            <a:r>
              <a:t>Alerte automatique par email en cas de régression détectée lors d’un re-scan</a:t>
            </a:r>
          </a:p>
          <a:p>
            <a:pPr lvl="0"/>
            <a:r>
              <a:t>Vérifications supplémentaires (CSP, en-têtes additionnels, CVE connues)</a:t>
            </a:r>
          </a:p>
          <a:p>
            <a:pPr lvl="0"/>
            <a:r>
              <a:t>Couverture de tests étendue (bout en bout)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Mise en pratique du cycle complet d’un projet informatique : besoin → conception → implémentation</a:t>
            </a:r>
          </a:p>
          <a:p>
            <a:pPr lvl="0"/>
            <a:r>
              <a:t>Une contribution concrète à la démocratisation de la cybersécurité au Bénin</a:t>
            </a:r>
          </a:p>
          <a:p>
            <a:pPr lvl="0"/>
            <a:r>
              <a:t>Rendre accessible à tous la première étape d’un audit de sécurité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Merci de votre attention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Questions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2452"/>
      </a:dk2>
      <a:lt2>
        <a:srgbClr val="F4F6FA"/>
      </a:lt2>
      <a:accent1>
        <a:srgbClr val="0054CB"/>
      </a:accent1>
      <a:accent2>
        <a:srgbClr val="002452"/>
      </a:accent2>
      <a:accent3>
        <a:srgbClr val="16A34A"/>
      </a:accent3>
      <a:accent4>
        <a:srgbClr val="D97706"/>
      </a:accent4>
      <a:accent5>
        <a:srgbClr val="DC2626"/>
      </a:accent5>
      <a:accent6>
        <a:srgbClr val="6B7280"/>
      </a:accent6>
      <a:hlink>
        <a:srgbClr val="0054CB"/>
      </a:hlink>
      <a:folHlink>
        <a:srgbClr val="002452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802</Words>
  <Application>Microsoft Office PowerPoint</Application>
  <PresentationFormat>Affichage à l'écran (16:9)</PresentationFormat>
  <Paragraphs>101</Paragraphs>
  <Slides>30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33" baseType="lpstr">
      <vt:lpstr>Arial</vt:lpstr>
      <vt:lpstr>Segoe UI</vt:lpstr>
      <vt:lpstr>Office Theme</vt:lpstr>
      <vt:lpstr>CyberGuard Bénin</vt:lpstr>
      <vt:lpstr>I. Contexte du stage</vt:lpstr>
      <vt:lpstr>Structure d’accueil</vt:lpstr>
      <vt:lpstr>Organigramme MESRS / DGRSI</vt:lpstr>
      <vt:lpstr>Déroulement du stage</vt:lpstr>
      <vt:lpstr>II. Problématique &amp; Solution</vt:lpstr>
      <vt:lpstr>Le constat</vt:lpstr>
      <vt:lpstr>Ce n’est pas qu’un problème technique</vt:lpstr>
      <vt:lpstr>La solution : CyberGuard Bénin</vt:lpstr>
      <vt:lpstr>III. Conception &amp; Réalisation</vt:lpstr>
      <vt:lpstr>Diagramme de cas d’utilisation</vt:lpstr>
      <vt:lpstr>Diagramme de classes</vt:lpstr>
      <vt:lpstr>Diagramme d’objets</vt:lpstr>
      <vt:lpstr>Séquence — Gérer les comptes utilisateurs</vt:lpstr>
      <vt:lpstr>Séquence — Lancer une analyse</vt:lpstr>
      <vt:lpstr>Séquence — Traiter l’analyse</vt:lpstr>
      <vt:lpstr>Architecture technique</vt:lpstr>
      <vt:lpstr>Le moteur d’analyse — 7 contrôles</vt:lpstr>
      <vt:lpstr>Sécurité du compte utilisateur</vt:lpstr>
      <vt:lpstr>Suivi et administration</vt:lpstr>
      <vt:lpstr>Fonctionnalités récentes</vt:lpstr>
      <vt:lpstr>IV. Démonstration</vt:lpstr>
      <vt:lpstr>Aperçu de la plateforme</vt:lpstr>
      <vt:lpstr>Résultat d’une analyse</vt:lpstr>
      <vt:lpstr>V. Bilan</vt:lpstr>
      <vt:lpstr>Difficultés rencontrées</vt:lpstr>
      <vt:lpstr>Résultats obtenus</vt:lpstr>
      <vt:lpstr>Perspectives</vt:lpstr>
      <vt:lpstr>Conclusion</vt:lpstr>
      <vt:lpstr>Merci de votre attention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CyberGuard Bénin</dc:title>
  <dc:creator>Orace ATTINMAWASSONOU — Fructueux HOUNGBEME</dc:creator>
  <cp:keywords/>
  <cp:lastModifiedBy>Orace ATTINMAWASSONOU</cp:lastModifiedBy>
  <cp:revision>1</cp:revision>
  <dcterms:created xsi:type="dcterms:W3CDTF">2026-07-25T23:40:19Z</dcterms:created>
  <dcterms:modified xsi:type="dcterms:W3CDTF">2026-07-27T07:57:23Z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Soutenance de stage — ENEAM / UAC — Année académique 2025-2026</vt:lpwstr>
  </property>
  <property fmtid="{D5CDD505-2E9C-101B-9397-08002B2CF9AE}" pid="3" name="slide_level">
    <vt:lpwstr>2</vt:lpwstr>
  </property>
  <property fmtid="{D5CDD505-2E9C-101B-9397-08002B2CF9AE}" pid="4" name="subtitle">
    <vt:lpwstr>Plateforme intelligente d’analyse et d’évaluation de la sécurité des sites web</vt:lpwstr>
  </property>
</Properties>
</file>